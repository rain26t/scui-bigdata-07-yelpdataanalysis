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blob_mag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20" y="-137160"/>
            <a:ext cx="2926080" cy="2926080"/>
          </a:xfrm>
          <a:prstGeom prst="rect">
            <a:avLst/>
          </a:prstGeom>
        </p:spPr>
      </p:pic>
      <p:pic>
        <p:nvPicPr>
          <p:cNvPr id="3" name="Picture 2" descr="design_blob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343400"/>
            <a:ext cx="2926080" cy="2926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38912" y="347472"/>
            <a:ext cx="11292840" cy="6144768"/>
          </a:xfrm>
          <a:prstGeom prst="roundRect">
            <a:avLst>
              <a:gd name="adj" fmla="val 12000"/>
            </a:avLst>
          </a:prstGeom>
          <a:solidFill>
            <a:srgbClr val="111424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36576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E984D8"/>
                </a:solidFill>
                <a:latin typeface="Aptos"/>
              </a:rPr>
              <a:t>SILKBYTE X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42416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7F0FF"/>
                </a:solidFill>
                <a:latin typeface="Aptos"/>
              </a:rPr>
              <a:t>Big Data Analytics Project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63040"/>
            <a:ext cx="10515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FE9FA"/>
                </a:solidFill>
                <a:latin typeface="Aptos"/>
              </a:rPr>
              <a:t>Compact presentation covering the required project sections without overloading the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38528"/>
            <a:ext cx="1399032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56816"/>
            <a:ext cx="13075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Yelp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8568" y="1938528"/>
            <a:ext cx="1097280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7" y="1956816"/>
            <a:ext cx="1005839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HDFS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5" y="1938528"/>
            <a:ext cx="1097280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5" y="1956816"/>
            <a:ext cx="1005839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583" y="1938528"/>
            <a:ext cx="1101852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1956816"/>
            <a:ext cx="101041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PySpark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84164" y="1938528"/>
            <a:ext cx="1161288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9883" y="1956816"/>
            <a:ext cx="1069848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Zeppelin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5179" y="1938528"/>
            <a:ext cx="1339596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899" y="1956816"/>
            <a:ext cx="1248156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Text-to-SQL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2395728"/>
            <a:ext cx="5074920" cy="3639312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615184"/>
            <a:ext cx="4663440" cy="3154680"/>
          </a:xfrm>
          <a:prstGeom prst="rect">
            <a:avLst/>
          </a:prstGeom>
          <a:noFill/>
        </p:spPr>
        <p:txBody>
          <a:bodyPr wrap="square" anchor="t" lIns="36576" rIns="18288" tIns="18288" bIns="18288">
            <a:spAutoFit/>
          </a:bodyPr>
          <a:lstStyle/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End-to-end system from raw Yelp JSON ingestion to conversational analytics.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Designed for explainable querying: question -&gt; SQL -&gt; result table -&gt; chart.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Built as both a big data coursework pipeline and a product-style demo.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98464" y="2395728"/>
            <a:ext cx="5102352" cy="3639312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losing_value_chain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2715196"/>
            <a:ext cx="4846320" cy="27260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63055" y="5779007"/>
            <a:ext cx="4773168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BEB4D3"/>
                </a:solidFill>
                <a:latin typeface="Aptos"/>
              </a:rPr>
              <a:t>Project flow from storage and analytics to conversational 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19088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BEB4D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blob_mag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20" y="-137160"/>
            <a:ext cx="2926080" cy="2926080"/>
          </a:xfrm>
          <a:prstGeom prst="rect">
            <a:avLst/>
          </a:prstGeom>
        </p:spPr>
      </p:pic>
      <p:pic>
        <p:nvPicPr>
          <p:cNvPr id="3" name="Picture 2" descr="design_blob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343400"/>
            <a:ext cx="2926080" cy="2926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38912" y="347472"/>
            <a:ext cx="11292840" cy="6144768"/>
          </a:xfrm>
          <a:prstGeom prst="roundRect">
            <a:avLst>
              <a:gd name="adj" fmla="val 12000"/>
            </a:avLst>
          </a:prstGeom>
          <a:solidFill>
            <a:srgbClr val="111424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36576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E984D8"/>
                </a:solidFill>
                <a:latin typeface="Aptos"/>
              </a:rPr>
              <a:t>GENERAL PROJECT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42416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7F0FF"/>
                </a:solidFill>
                <a:latin typeface="Aptos"/>
              </a:rPr>
              <a:t>What The Project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63040"/>
            <a:ext cx="10515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FE9FA"/>
                </a:solidFill>
                <a:latin typeface="Aptos"/>
              </a:rPr>
              <a:t>A unified system that converts large Yelp data into accessible business insight.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38528"/>
            <a:ext cx="1101852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56816"/>
            <a:ext cx="101041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1388" y="1938528"/>
            <a:ext cx="1339596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07107" y="1956816"/>
            <a:ext cx="1248156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Warehousing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938528"/>
            <a:ext cx="1280160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956816"/>
            <a:ext cx="1188719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938528"/>
            <a:ext cx="1458468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956816"/>
            <a:ext cx="1367028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Visualization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8796" y="1938528"/>
            <a:ext cx="1339596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4516" y="1956816"/>
            <a:ext cx="1248156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AI Querying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395728"/>
            <a:ext cx="5074920" cy="3639312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615184"/>
            <a:ext cx="4663440" cy="3154680"/>
          </a:xfrm>
          <a:prstGeom prst="rect">
            <a:avLst/>
          </a:prstGeom>
          <a:noFill/>
        </p:spPr>
        <p:txBody>
          <a:bodyPr wrap="square" anchor="t" lIns="36576" rIns="18288" tIns="18288" bIns="18288">
            <a:spAutoFit/>
          </a:bodyPr>
          <a:lstStyle/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Ingested semi-structured Yelp JSON into a scalable distributed environment.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Structured the data in Hive and processed analytical tasks with PySpark.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Used Zeppelin for notebook-based visual reporting and validation.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Added Query by SilkByteX as the conversational layer for natural-language querying.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98464" y="2395728"/>
            <a:ext cx="5102352" cy="3639312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tl_pipeline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2715196"/>
            <a:ext cx="4846320" cy="272605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63055" y="5779007"/>
            <a:ext cx="4773168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BEB4D3"/>
                </a:solidFill>
                <a:latin typeface="Aptos"/>
              </a:rPr>
              <a:t>Raw data -&gt; warehouse -&gt; analytics -&gt; product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19088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BEB4D3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blob_mag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20" y="-137160"/>
            <a:ext cx="2926080" cy="2926080"/>
          </a:xfrm>
          <a:prstGeom prst="rect">
            <a:avLst/>
          </a:prstGeom>
        </p:spPr>
      </p:pic>
      <p:pic>
        <p:nvPicPr>
          <p:cNvPr id="3" name="Picture 2" descr="design_blob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343400"/>
            <a:ext cx="2926080" cy="2926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38912" y="347472"/>
            <a:ext cx="11292840" cy="6144768"/>
          </a:xfrm>
          <a:prstGeom prst="roundRect">
            <a:avLst>
              <a:gd name="adj" fmla="val 12000"/>
            </a:avLst>
          </a:prstGeom>
          <a:solidFill>
            <a:srgbClr val="111424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36576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E984D8"/>
                </a:solidFill>
                <a:latin typeface="Aptos"/>
              </a:rPr>
              <a:t>TEAM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42416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7F0FF"/>
                </a:solidFill>
                <a:latin typeface="Aptos"/>
              </a:rPr>
              <a:t>Member 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63040"/>
            <a:ext cx="10515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FE9FA"/>
                </a:solidFill>
                <a:latin typeface="Aptos"/>
              </a:rPr>
              <a:t>Module ownership was split by analysis domain, then integrated into one final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38528"/>
            <a:ext cx="1458468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56816"/>
            <a:ext cx="1367028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Team Division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8003" y="1938528"/>
            <a:ext cx="1220724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3723" y="1956816"/>
            <a:ext cx="1129284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Ownership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48456" y="1938528"/>
            <a:ext cx="1339596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1956816"/>
            <a:ext cx="1248156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414016"/>
            <a:ext cx="5349240" cy="3611880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414016"/>
            <a:ext cx="4892040" cy="3611880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642616"/>
            <a:ext cx="4937760" cy="3108960"/>
          </a:xfrm>
          <a:prstGeom prst="rect">
            <a:avLst/>
          </a:prstGeom>
          <a:noFill/>
        </p:spPr>
        <p:txBody>
          <a:bodyPr wrap="square" anchor="t" lIns="36576" rIns="18288" tIns="18288" bIns="18288">
            <a:spAutoFit/>
          </a:bodyPr>
          <a:lstStyle/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Sabah Laajaje: Business analysis and data enrichment.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Focused on categories, ratings, locations, top-performing businesses, and external-context hypotheses.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Fahim: User analysis and enrichment.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Focused on growth, engagement, top reviewers, elite behavior, and external influence patterns.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42616"/>
            <a:ext cx="4480560" cy="2971800"/>
          </a:xfrm>
          <a:prstGeom prst="rect">
            <a:avLst/>
          </a:prstGeom>
          <a:noFill/>
        </p:spPr>
        <p:txBody>
          <a:bodyPr wrap="square" anchor="t" lIns="36576" rIns="18288" tIns="18288" bIns="18288">
            <a:spAutoFit/>
          </a:bodyPr>
          <a:lstStyle/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Mobashir Sifat: Review analysis and integration support.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Focused on review trends, sentiment-oriented interpretation, and presentation/product synthesis.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Shared team work: ETL workflow, architecture integration, Zeppelin outputs, and final delivery alignment.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19088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BEB4D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blob_mag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20" y="-137160"/>
            <a:ext cx="2926080" cy="2926080"/>
          </a:xfrm>
          <a:prstGeom prst="rect">
            <a:avLst/>
          </a:prstGeom>
        </p:spPr>
      </p:pic>
      <p:pic>
        <p:nvPicPr>
          <p:cNvPr id="3" name="Picture 2" descr="design_blob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343400"/>
            <a:ext cx="2926080" cy="2926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38912" y="347472"/>
            <a:ext cx="11292840" cy="6144768"/>
          </a:xfrm>
          <a:prstGeom prst="roundRect">
            <a:avLst>
              <a:gd name="adj" fmla="val 12000"/>
            </a:avLst>
          </a:prstGeom>
          <a:solidFill>
            <a:srgbClr val="111424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36576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E984D8"/>
                </a:solidFill>
                <a:latin typeface="Aptos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42416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7F0FF"/>
                </a:solidFill>
                <a:latin typeface="Aptos"/>
              </a:rPr>
              <a:t>Three-Layer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63040"/>
            <a:ext cx="10515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FE9FA"/>
                </a:solidFill>
                <a:latin typeface="Aptos"/>
              </a:rPr>
              <a:t>The product is organized as presentation, service, and data-execution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38528"/>
            <a:ext cx="1399032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56816"/>
            <a:ext cx="13075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Streamlit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8568" y="1938528"/>
            <a:ext cx="1161288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7" y="1956816"/>
            <a:ext cx="1069848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1938528"/>
            <a:ext cx="1097280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3" y="1956816"/>
            <a:ext cx="1005839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36592" y="1938528"/>
            <a:ext cx="1280160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1956816"/>
            <a:ext cx="1188719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Hive/Spark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1938528"/>
            <a:ext cx="1636776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199" y="1956816"/>
            <a:ext cx="1545336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Schema Injection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395728"/>
            <a:ext cx="5074920" cy="3639312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615184"/>
            <a:ext cx="4663440" cy="3154680"/>
          </a:xfrm>
          <a:prstGeom prst="rect">
            <a:avLst/>
          </a:prstGeom>
          <a:noFill/>
        </p:spPr>
        <p:txBody>
          <a:bodyPr wrap="square" anchor="t" lIns="36576" rIns="18288" tIns="18288" bIns="18288">
            <a:spAutoFit/>
          </a:bodyPr>
          <a:lstStyle/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Presentation layer in ui.py captures questions and renders SQL, tables, and charts.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Service layer in app.py, pipeline.py, and sql_generation.py handles orchestration and self-correction.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Data layer in database.py and schema_definitions.py connects the product to Hive/Spark execution.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Schema-aware prompting improves SQL correctness before execution.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98464" y="2395728"/>
            <a:ext cx="5102352" cy="3639312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query_architecture_bluepr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2715196"/>
            <a:ext cx="4846320" cy="272605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63055" y="5779007"/>
            <a:ext cx="4773168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BEB4D3"/>
                </a:solidFill>
                <a:latin typeface="Aptos"/>
              </a:rPr>
              <a:t>Architecture used in the final Query by SilkByteX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19088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BEB4D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blob_mag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20" y="-137160"/>
            <a:ext cx="2926080" cy="2926080"/>
          </a:xfrm>
          <a:prstGeom prst="rect">
            <a:avLst/>
          </a:prstGeom>
        </p:spPr>
      </p:pic>
      <p:pic>
        <p:nvPicPr>
          <p:cNvPr id="3" name="Picture 2" descr="design_blob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343400"/>
            <a:ext cx="2926080" cy="2926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38912" y="347472"/>
            <a:ext cx="11292840" cy="6144768"/>
          </a:xfrm>
          <a:prstGeom prst="roundRect">
            <a:avLst>
              <a:gd name="adj" fmla="val 12000"/>
            </a:avLst>
          </a:prstGeom>
          <a:solidFill>
            <a:srgbClr val="111424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36576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E984D8"/>
                </a:solidFill>
                <a:latin typeface="Aptos"/>
              </a:rPr>
              <a:t>PROJECT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42416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7F0FF"/>
                </a:solidFill>
                <a:latin typeface="Aptos"/>
              </a:rPr>
              <a:t>What Makes The Project Strong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63040"/>
            <a:ext cx="10515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FE9FA"/>
                </a:solidFill>
                <a:latin typeface="Aptos"/>
              </a:rPr>
              <a:t>The system combines engineering depth with a usable interface for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38528"/>
            <a:ext cx="1280160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56816"/>
            <a:ext cx="1188719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End-to-End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9696" y="1938528"/>
            <a:ext cx="1161288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85415" y="1956816"/>
            <a:ext cx="1069848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Scalable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938528"/>
            <a:ext cx="1339596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956816"/>
            <a:ext cx="1248156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Explainable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0036" y="1938528"/>
            <a:ext cx="1339596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5755" y="1956816"/>
            <a:ext cx="1248156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Interactive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395728"/>
            <a:ext cx="5074920" cy="3639312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15184"/>
            <a:ext cx="4663440" cy="3154680"/>
          </a:xfrm>
          <a:prstGeom prst="rect">
            <a:avLst/>
          </a:prstGeom>
          <a:noFill/>
        </p:spPr>
        <p:txBody>
          <a:bodyPr wrap="square" anchor="t" lIns="36576" rIns="18288" tIns="18288" bIns="18288">
            <a:spAutoFit/>
          </a:bodyPr>
          <a:lstStyle/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Full pipeline from raw JSON to business-ready analytics.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Multiple analysis domains: business, user, review, rating, and check-in.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Conversational Text-to-SQL interface on top of a real backend workflow.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Explainable outputs through SQL trace, tables, and chart views.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Data enrichment direction extends the system beyond a single dataset.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8464" y="2395728"/>
            <a:ext cx="5102352" cy="3639312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roduct_transition_story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2715196"/>
            <a:ext cx="4846320" cy="27260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63055" y="5779007"/>
            <a:ext cx="4773168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BEB4D3"/>
                </a:solidFill>
                <a:latin typeface="Aptos"/>
              </a:rPr>
              <a:t>From engineering pipeline to user-facing product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19088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BEB4D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blob_mag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20" y="-137160"/>
            <a:ext cx="2926080" cy="2926080"/>
          </a:xfrm>
          <a:prstGeom prst="rect">
            <a:avLst/>
          </a:prstGeom>
        </p:spPr>
      </p:pic>
      <p:pic>
        <p:nvPicPr>
          <p:cNvPr id="3" name="Picture 2" descr="design_blob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343400"/>
            <a:ext cx="2926080" cy="2926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38912" y="347472"/>
            <a:ext cx="11292840" cy="6144768"/>
          </a:xfrm>
          <a:prstGeom prst="roundRect">
            <a:avLst>
              <a:gd name="adj" fmla="val 12000"/>
            </a:avLst>
          </a:prstGeom>
          <a:solidFill>
            <a:srgbClr val="111424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36576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E984D8"/>
                </a:solidFill>
                <a:latin typeface="Aptos"/>
              </a:rPr>
              <a:t>DATA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42416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7F0FF"/>
                </a:solidFill>
                <a:latin typeface="Aptos"/>
              </a:rPr>
              <a:t>Key Insights 1 To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63040"/>
            <a:ext cx="10515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FE9FA"/>
                </a:solidFill>
                <a:latin typeface="Aptos"/>
              </a:rPr>
              <a:t>Representative insight set drawn from the analysis scope in the project materials.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38528"/>
            <a:ext cx="1161288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56816"/>
            <a:ext cx="1069848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Business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20824" y="1938528"/>
            <a:ext cx="1097280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543" y="1956816"/>
            <a:ext cx="1005839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938528"/>
            <a:ext cx="1097280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1" y="1956816"/>
            <a:ext cx="1005839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938528"/>
            <a:ext cx="1097280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956816"/>
            <a:ext cx="1005839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414016"/>
            <a:ext cx="5349240" cy="3611880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44768" y="2414016"/>
            <a:ext cx="4892040" cy="3611880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42616"/>
            <a:ext cx="4937760" cy="3108960"/>
          </a:xfrm>
          <a:prstGeom prst="rect">
            <a:avLst/>
          </a:prstGeom>
          <a:noFill/>
        </p:spPr>
        <p:txBody>
          <a:bodyPr wrap="square" anchor="t" lIns="36576" rIns="18288" tIns="18288" bIns="18288">
            <a:spAutoFit/>
          </a:bodyPr>
          <a:lstStyle/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Merchant concentration is uneven across cities and categories, revealing localized market dominance.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Elite and high-activity users contribute a disproportionate share of review influence.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Text patterns in reviews help explain why star ratings rise or fall, not just what the final score is.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High review volume does not always mean consistently high satisfaction.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42616"/>
            <a:ext cx="4480560" cy="2971800"/>
          </a:xfrm>
          <a:prstGeom prst="rect">
            <a:avLst/>
          </a:prstGeom>
          <a:noFill/>
        </p:spPr>
        <p:txBody>
          <a:bodyPr wrap="square" anchor="t" lIns="36576" rIns="18288" tIns="18288" bIns="18288">
            <a:spAutoFit/>
          </a:bodyPr>
          <a:lstStyle/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Business category mix affects both visibility and rating behavior.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User participation quality matters more than raw activity count alone.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Pain-point language in low-star reviews exposes operational issues hidden by averages.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Comparing categories and cities reveals more than looking at global averages.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19088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BEB4D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blob_mag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20" y="-137160"/>
            <a:ext cx="2926080" cy="2926080"/>
          </a:xfrm>
          <a:prstGeom prst="rect">
            <a:avLst/>
          </a:prstGeom>
        </p:spPr>
      </p:pic>
      <p:pic>
        <p:nvPicPr>
          <p:cNvPr id="3" name="Picture 2" descr="design_blob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343400"/>
            <a:ext cx="2926080" cy="2926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38912" y="347472"/>
            <a:ext cx="11292840" cy="6144768"/>
          </a:xfrm>
          <a:prstGeom prst="roundRect">
            <a:avLst>
              <a:gd name="adj" fmla="val 12000"/>
            </a:avLst>
          </a:prstGeom>
          <a:solidFill>
            <a:srgbClr val="111424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36576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E984D8"/>
                </a:solidFill>
                <a:latin typeface="Aptos"/>
              </a:rPr>
              <a:t>DATA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42416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7F0FF"/>
                </a:solidFill>
                <a:latin typeface="Aptos"/>
              </a:rPr>
              <a:t>Key Insights 5 To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63040"/>
            <a:ext cx="10515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FE9FA"/>
                </a:solidFill>
                <a:latin typeface="Aptos"/>
              </a:rPr>
              <a:t>Additional insights connect traffic behavior, timing, and enrichment opportunities.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38528"/>
            <a:ext cx="1161288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56816"/>
            <a:ext cx="1069848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Check-in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20824" y="1938528"/>
            <a:ext cx="1097280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543" y="1956816"/>
            <a:ext cx="1005839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Timing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938528"/>
            <a:ext cx="1280160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1" y="1956816"/>
            <a:ext cx="1188719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Enrichment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1636776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956816"/>
            <a:ext cx="1545336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Decision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414016"/>
            <a:ext cx="5349240" cy="3611880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44768" y="2414016"/>
            <a:ext cx="4892040" cy="3611880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42616"/>
            <a:ext cx="4937760" cy="3108960"/>
          </a:xfrm>
          <a:prstGeom prst="rect">
            <a:avLst/>
          </a:prstGeom>
          <a:noFill/>
        </p:spPr>
        <p:txBody>
          <a:bodyPr wrap="square" anchor="t" lIns="36576" rIns="18288" tIns="18288" bIns="18288">
            <a:spAutoFit/>
          </a:bodyPr>
          <a:lstStyle/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Check-in activity complements reviews by showing physical demand, not only digital feedback.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Weekday versus weekend patterns can change rating and traffic behavior.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Temporal views help distinguish stable businesses from short-term spikes.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Combining ratings, reviews, and check-ins creates stronger ranking logic than any single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42616"/>
            <a:ext cx="4480560" cy="2971800"/>
          </a:xfrm>
          <a:prstGeom prst="rect">
            <a:avLst/>
          </a:prstGeom>
          <a:noFill/>
        </p:spPr>
        <p:txBody>
          <a:bodyPr wrap="square" anchor="t" lIns="36576" rIns="18288" tIns="18288" bIns="18288">
            <a:spAutoFit/>
          </a:bodyPr>
          <a:lstStyle/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External context such as weather or location conditions can refine internal interpretations.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Cross-validation reduces the risk of drawing conclusions from one source alone.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Conversational querying lowers the barrier for non-technical users to explore these insights.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The product layer turns analysis outputs into reusable decision support.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19088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BEB4D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blob_mag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20" y="-137160"/>
            <a:ext cx="2926080" cy="2926080"/>
          </a:xfrm>
          <a:prstGeom prst="rect">
            <a:avLst/>
          </a:prstGeom>
        </p:spPr>
      </p:pic>
      <p:pic>
        <p:nvPicPr>
          <p:cNvPr id="3" name="Picture 2" descr="design_blob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343400"/>
            <a:ext cx="2926080" cy="2926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38912" y="347472"/>
            <a:ext cx="11292840" cy="6144768"/>
          </a:xfrm>
          <a:prstGeom prst="roundRect">
            <a:avLst>
              <a:gd name="adj" fmla="val 12000"/>
            </a:avLst>
          </a:prstGeom>
          <a:solidFill>
            <a:srgbClr val="111424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36576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E984D8"/>
                </a:solidFill>
                <a:latin typeface="Aptos"/>
              </a:rPr>
              <a:t>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42416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7F0FF"/>
                </a:solidFill>
                <a:latin typeface="Aptos"/>
              </a:rPr>
              <a:t>What The Team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63040"/>
            <a:ext cx="10515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FE9FA"/>
                </a:solidFill>
                <a:latin typeface="Aptos"/>
              </a:rPr>
              <a:t>The project improved both technical depth and collaboration discipline.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38528"/>
            <a:ext cx="1815084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56816"/>
            <a:ext cx="1723644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Distributed 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4620" y="1938528"/>
            <a:ext cx="1220724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0339" y="1956816"/>
            <a:ext cx="1129284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5072" y="1938528"/>
            <a:ext cx="1458468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50791" y="1956816"/>
            <a:ext cx="1367028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Collaboration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3268" y="1938528"/>
            <a:ext cx="1636776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8988" y="1956816"/>
            <a:ext cx="1545336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Product Thinking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395728"/>
            <a:ext cx="5074920" cy="3639312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15184"/>
            <a:ext cx="4663440" cy="3154680"/>
          </a:xfrm>
          <a:prstGeom prst="rect">
            <a:avLst/>
          </a:prstGeom>
          <a:noFill/>
        </p:spPr>
        <p:txBody>
          <a:bodyPr wrap="square" anchor="t" lIns="36576" rIns="18288" tIns="18288" bIns="18288">
            <a:spAutoFit/>
          </a:bodyPr>
          <a:lstStyle/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Clean schema design and data preparation are essential before advanced analytics.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Distributed tools like HDFS, Hive, Spark, and Zeppelin work best as one coordinated workflow.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Reliable analytics products need both backend rigor and frontend clarity.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Team task division helps velocity, but integration quality determines the final result.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AI querying is most valuable when it remains grounded in real schema and real outputs.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8464" y="2395728"/>
            <a:ext cx="5102352" cy="3639312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losing_value_chain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2715196"/>
            <a:ext cx="4846320" cy="27260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63055" y="5779007"/>
            <a:ext cx="4773168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BEB4D3"/>
                </a:solidFill>
                <a:latin typeface="Aptos"/>
              </a:rPr>
              <a:t>Technical learning and product thinking connected across the full journey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19088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BEB4D3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blob_mag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20" y="-137160"/>
            <a:ext cx="2926080" cy="2926080"/>
          </a:xfrm>
          <a:prstGeom prst="rect">
            <a:avLst/>
          </a:prstGeom>
        </p:spPr>
      </p:pic>
      <p:pic>
        <p:nvPicPr>
          <p:cNvPr id="3" name="Picture 2" descr="design_blob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343400"/>
            <a:ext cx="2926080" cy="2926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38912" y="347472"/>
            <a:ext cx="11292840" cy="6144768"/>
          </a:xfrm>
          <a:prstGeom prst="roundRect">
            <a:avLst>
              <a:gd name="adj" fmla="val 12000"/>
            </a:avLst>
          </a:prstGeom>
          <a:solidFill>
            <a:srgbClr val="111424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36576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E984D8"/>
                </a:solidFill>
                <a:latin typeface="Aptos"/>
              </a:rPr>
              <a:t>GIT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42416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7F0FF"/>
                </a:solidFill>
                <a:latin typeface="Aptos"/>
              </a:rPr>
              <a:t>Repository And Commit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63040"/>
            <a:ext cx="10515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FE9FA"/>
                </a:solidFill>
                <a:latin typeface="Aptos"/>
              </a:rPr>
              <a:t>Version control was part of the required workflow, but the current workspace snapshot does not include local .git metadata.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38528"/>
            <a:ext cx="1577340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56816"/>
            <a:ext cx="14859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GitHub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6876" y="1938528"/>
            <a:ext cx="1458468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2596" y="1956816"/>
            <a:ext cx="1367028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Collaboration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5072" y="1938528"/>
            <a:ext cx="1399032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50791" y="1956816"/>
            <a:ext cx="1307592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Traceability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395728"/>
            <a:ext cx="5074920" cy="3639312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15184"/>
            <a:ext cx="4663440" cy="3154680"/>
          </a:xfrm>
          <a:prstGeom prst="rect">
            <a:avLst/>
          </a:prstGeom>
          <a:noFill/>
        </p:spPr>
        <p:txBody>
          <a:bodyPr wrap="square" anchor="t" lIns="36576" rIns="18288" tIns="18288" bIns="18288">
            <a:spAutoFit/>
          </a:bodyPr>
          <a:lstStyle/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The provided team deck explicitly documents a GitHub repository overview and commit tracking as part of collaboration.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Repository organization separated analysis modules and supported clearer task ownership.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Git history was used to coordinate revisions and track ongoing progress across modules.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Exact commit counts and per-member commit statistics are not recoverable from this exported workspace because no .git directory is present.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395728"/>
            <a:ext cx="5102352" cy="3639312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genda_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2715196"/>
            <a:ext cx="4846320" cy="272605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63055" y="5779007"/>
            <a:ext cx="4773168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BEB4D3"/>
                </a:solidFill>
                <a:latin typeface="Aptos"/>
              </a:rPr>
              <a:t>Collaboration rhythm and versioned project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19088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BEB4D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blob_mag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20" y="-137160"/>
            <a:ext cx="2926080" cy="2926080"/>
          </a:xfrm>
          <a:prstGeom prst="rect">
            <a:avLst/>
          </a:prstGeom>
        </p:spPr>
      </p:pic>
      <p:pic>
        <p:nvPicPr>
          <p:cNvPr id="3" name="Picture 2" descr="design_blob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343400"/>
            <a:ext cx="2926080" cy="2926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38912" y="347472"/>
            <a:ext cx="11292840" cy="6144768"/>
          </a:xfrm>
          <a:prstGeom prst="roundRect">
            <a:avLst>
              <a:gd name="adj" fmla="val 12000"/>
            </a:avLst>
          </a:prstGeom>
          <a:solidFill>
            <a:srgbClr val="111424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36576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E984D8"/>
                </a:solidFill>
                <a:latin typeface="Aptos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42416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7F0FF"/>
                </a:solidFill>
                <a:latin typeface="Aptos"/>
              </a:rPr>
              <a:t>From Raw Data To Conversational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63040"/>
            <a:ext cx="10515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FE9FA"/>
                </a:solidFill>
                <a:latin typeface="Aptos"/>
              </a:rPr>
              <a:t>A compact summary of the project’s engineering value and presentation-ready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38528"/>
            <a:ext cx="1097280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56816"/>
            <a:ext cx="1005839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ETL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56815" y="1938528"/>
            <a:ext cx="1220724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02535" y="1956816"/>
            <a:ext cx="1129284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7268" y="1938528"/>
            <a:ext cx="1161288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2987" y="1956816"/>
            <a:ext cx="1069848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Insights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8283" y="1938528"/>
            <a:ext cx="1280160" cy="310896"/>
          </a:xfrm>
          <a:prstGeom prst="roundRect">
            <a:avLst>
              <a:gd name="adj" fmla="val 35000"/>
            </a:avLst>
          </a:prstGeom>
          <a:solidFill>
            <a:srgbClr val="442A58"/>
          </a:solidFill>
          <a:ln w="10160">
            <a:solidFill>
              <a:srgbClr val="6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4003" y="1956816"/>
            <a:ext cx="1188719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AI Product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395728"/>
            <a:ext cx="5074920" cy="3639312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15184"/>
            <a:ext cx="4663440" cy="3154680"/>
          </a:xfrm>
          <a:prstGeom prst="rect">
            <a:avLst/>
          </a:prstGeom>
          <a:noFill/>
        </p:spPr>
        <p:txBody>
          <a:bodyPr wrap="square" anchor="t" lIns="36576" rIns="18288" tIns="18288" bIns="18288">
            <a:spAutoFit/>
          </a:bodyPr>
          <a:lstStyle/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Built a real big data workflow, not isolated scripts.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Generated actionable insight across multiple analytical domains.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Translated the backend pipeline into a user-facing conversational product.</a:t>
            </a:r>
          </a:p>
          <a:p>
            <a:pPr algn="l"/>
            <a:r>
              <a:rPr sz="1300">
                <a:solidFill>
                  <a:srgbClr val="EFE9FA"/>
                </a:solidFill>
                <a:latin typeface="Aptos"/>
              </a:rPr>
              <a:t>Delivered a presentation-ready system with clear ownership, architecture, and lessons learned.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8464" y="2395728"/>
            <a:ext cx="5102352" cy="3639312"/>
          </a:xfrm>
          <a:prstGeom prst="roundRect">
            <a:avLst>
              <a:gd name="adj" fmla="val 12000"/>
            </a:avLst>
          </a:prstGeom>
          <a:solidFill>
            <a:srgbClr val="0C101F"/>
          </a:solidFill>
          <a:ln w="12700">
            <a:solidFill>
              <a:srgbClr val="50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emo_queries_show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2715196"/>
            <a:ext cx="4846320" cy="27260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63055" y="5779007"/>
            <a:ext cx="4773168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BEB4D3"/>
                </a:solidFill>
                <a:latin typeface="Aptos"/>
              </a:rPr>
              <a:t>The final system turns questions into explainable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19088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BEB4D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